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3" r:id="rId12"/>
    <p:sldId id="268" r:id="rId13"/>
    <p:sldId id="269" r:id="rId14"/>
    <p:sldId id="270" r:id="rId15"/>
    <p:sldId id="275" r:id="rId16"/>
    <p:sldId id="271" r:id="rId17"/>
    <p:sldId id="272" r:id="rId18"/>
    <p:sldId id="273" r:id="rId19"/>
    <p:sldId id="274" r:id="rId20"/>
    <p:sldId id="284" r:id="rId21"/>
    <p:sldId id="276" r:id="rId22"/>
    <p:sldId id="278" r:id="rId23"/>
    <p:sldId id="279" r:id="rId24"/>
    <p:sldId id="277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6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119.xml"/><Relationship Id="rId2" Type="http://schemas.openxmlformats.org/officeDocument/2006/relationships/image" Target="../media/image2.png"/><Relationship Id="rId1" Type="http://schemas.openxmlformats.org/officeDocument/2006/relationships/tags" Target="../tags/tag1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4800">
                <a:latin typeface="Times New Roman" panose="02020603050405020304" charset="0"/>
                <a:cs typeface="Times New Roman" panose="02020603050405020304" charset="0"/>
              </a:rPr>
              <a:t>AI-Based Predictive Maintenance of Wind Turbines Using Machine Learning</a:t>
            </a:r>
            <a:endParaRPr lang="en-US" altLang="en-US" sz="4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16965" y="3961765"/>
            <a:ext cx="10158730" cy="1784985"/>
          </a:xfrm>
        </p:spPr>
        <p:txBody>
          <a:bodyPr>
            <a:noAutofit/>
          </a:bodyPr>
          <a:p>
            <a:pPr algn="l"/>
            <a:r>
              <a:rPr lang="en-US" sz="2000" cap="all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Team Members</a:t>
            </a:r>
            <a:r>
              <a:rPr lang="en-IN" altLang="en-US" sz="2000" cap="all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sz="2000" cap="all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						GUIDE</a:t>
            </a:r>
            <a:r>
              <a:rPr lang="en-IN" altLang="en-US" sz="2000" cap="all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:</a:t>
            </a:r>
            <a:endParaRPr lang="en-US" sz="2000" cap="all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I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latin typeface="Times New Roman" panose="02020603050405020304" charset="0"/>
                <a:cs typeface="Times New Roman" panose="02020603050405020304" charset="0"/>
                <a:sym typeface="+mn-ea"/>
              </a:rPr>
              <a:t>HARITHA D[111923CS01051]</a:t>
            </a:r>
            <a:r>
              <a:rPr lang="en-US" altLang="en-I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latin typeface="Times New Roman" panose="02020603050405020304" charset="0"/>
                <a:cs typeface="Times New Roman" panose="02020603050405020304" charset="0"/>
                <a:sym typeface="+mn-ea"/>
              </a:rPr>
              <a:t>				Dr. VADIVEL</a:t>
            </a:r>
            <a:r>
              <a:rPr lang="en-IN" altLang="en-US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latin typeface="Times New Roman" panose="02020603050405020304" charset="0"/>
                <a:cs typeface="Times New Roman" panose="02020603050405020304" charset="0"/>
                <a:sym typeface="+mn-ea"/>
              </a:rPr>
              <a:t>AN</a:t>
            </a:r>
            <a:endParaRPr lang="en-US" altLang="en-IN" sz="2000" noProof="0" dirty="0">
              <a:ln>
                <a:noFill/>
              </a:ln>
              <a:solidFill>
                <a:prstClr val="black"/>
              </a:solidFill>
              <a:effectLst/>
              <a:uLn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I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latin typeface="Times New Roman" panose="02020603050405020304" charset="0"/>
                <a:cs typeface="Times New Roman" panose="02020603050405020304" charset="0"/>
                <a:sym typeface="+mn-ea"/>
              </a:rPr>
              <a:t>LEKHA C[111923CS01077]</a:t>
            </a:r>
            <a:r>
              <a:rPr lang="en-US" altLang="en-I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latin typeface="Times New Roman" panose="02020603050405020304" charset="0"/>
                <a:cs typeface="Times New Roman" panose="02020603050405020304" charset="0"/>
                <a:sym typeface="+mn-ea"/>
              </a:rPr>
              <a:t>				CSE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charset="0"/>
              <a:ea typeface="+mn-ea"/>
              <a:cs typeface="Times New Roman" panose="0202060305040502030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I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latin typeface="Times New Roman" panose="02020603050405020304" charset="0"/>
                <a:cs typeface="Times New Roman" panose="02020603050405020304" charset="0"/>
                <a:sym typeface="+mn-ea"/>
              </a:rPr>
              <a:t>KOMESHWARI M[111923CS01073]  </a:t>
            </a:r>
            <a:r>
              <a:rPr lang="en-US" altLang="en-IN" sz="2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latin typeface="Times New Roman" panose="02020603050405020304" charset="0"/>
                <a:cs typeface="Times New Roman" panose="02020603050405020304" charset="0"/>
                <a:sym typeface="+mn-ea"/>
              </a:rPr>
              <a:t>			2026 - 2027</a:t>
            </a:r>
            <a:endParaRPr lang="en-US" altLang="en-IN" sz="2000" noProof="0" dirty="0">
              <a:ln>
                <a:noFill/>
              </a:ln>
              <a:solidFill>
                <a:prstClr val="black"/>
              </a:solidFill>
              <a:effectLst/>
              <a:uLnTx/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PROBLEM STATEMENT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Wind turbines operate continuously under changing environmental and mechanical conditions. Failure of critical components such as the gearbox, generator and bearings can cause unexpected downtime and high maintenance costs.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Traditional maintenance approaches mainly depend on: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Scheduled maintenance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Reactive maintenance after failure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Manual monitoring of turbine parameters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Basic threshold-based alarms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These approaches may not identify degradation before a failure occurs.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41065"/>
            <a:ext cx="10969200" cy="705600"/>
          </a:xfrm>
        </p:spPr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OBJECTIVE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167185"/>
            <a:ext cx="10969200" cy="47592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Main Objective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To develop an AI-based predictive maintenance system for wind turbines using SCADA data and machine learning.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Specific Objectives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Collect and understand SCADA sensor data with historical failure information.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Create pre-fault labels using documented failure timestamps.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Extract meaningful temporal and degradation-related features from sensor readings.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Train and compare machine-learning models for early failure prediction.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Evaluate models using Precision, Recall, F1-score, ROC-AUC and average lead time.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Develop a dashboard showing turbine risk status and maintenance recommendations.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MOTIVATION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472757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Why Predictive Maintenance?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Wind turbine failures can cause unexpected downtime.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Maintenance activities can be expensive, particularly when failures are discovered late.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SCADA systems already collect large amounts of operational data.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This data contains information about turbine operating behaviour.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Machine learning can identify patterns that are difficult to monitor manually.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Early warning provides an opportunity to plan maintenance before a critical failure.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6185" y="356940"/>
            <a:ext cx="10969200" cy="705600"/>
          </a:xfrm>
        </p:spPr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EXISTING SYSTEM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666115" y="1062355"/>
          <a:ext cx="10911840" cy="488061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637280"/>
                <a:gridCol w="3637280"/>
                <a:gridCol w="3637280"/>
              </a:tblGrid>
              <a:tr h="813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APPROACH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METHOD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813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Reactive Maintanence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Repair after failure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Unexpected downtime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813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Predictive maintanence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Fixed maintanence schedule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May cause unnecessary maintanence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813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Manual monitoring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Engineers inspect sensor values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Difficult with many parameters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813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Threshold Alarms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Fixed limits 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May miss gradual degradation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813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SCADA based monitoring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Monitor operational parameters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Many systems focus in current/anomalous behaviour rather than a defined pre-fault prediction window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31845"/>
            <a:ext cx="10969200" cy="705600"/>
          </a:xfrm>
        </p:spPr>
        <p:txBody>
          <a:bodyPr/>
          <a:p>
            <a:r>
              <a:rPr 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PROPOSED SYSTEM</a:t>
            </a:r>
            <a:endParaRPr 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330" y="937260"/>
            <a:ext cx="5176520" cy="566610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Our system will: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Obtain SCADA sensor data.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Create pre-fault and normal labels.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Generate temporal/degradation features.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Train machine-learning models.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Predict failure risk for future time windows.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Evaluate how early the model detects the upcoming failure.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Display the result through a Streamlit dashboard.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00805" y="937320"/>
            <a:ext cx="5176800" cy="474840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dashboard will show: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Healthy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Maintenance Required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High Failure Risk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Confidence/risk score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Fault probability over time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Sensor trends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Maintenance recommendation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Estimated lead time when a prediction is flagged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29895" y="356870"/>
            <a:ext cx="11147425" cy="705485"/>
          </a:xfrm>
        </p:spPr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LITERATURE SURVEY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429260" y="1062355"/>
          <a:ext cx="11148060" cy="469455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87015"/>
                <a:gridCol w="2787015"/>
                <a:gridCol w="2787015"/>
                <a:gridCol w="2787015"/>
              </a:tblGrid>
              <a:tr h="5384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PAPER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YEAR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METHOD</a:t>
                      </a:r>
                      <a:r>
                        <a:rPr lang="en-US" sz="320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endParaRPr lang="en-US" sz="3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9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Two-Tier Machine Learning Framework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2024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Two-tier ML: fault detection + fault identification; ensemble classifiers + XAI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Accuracy is not 100%; only SMOTE was tested; not all ensemble combinations explored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9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Explainable AI Framework using RF-XGBoost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2025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RF + XGBoost hybrid, SMOTE, SelectKBest, LIME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Limited datasets/fault types and lack of large-scale validation in existing approaches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99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Generative Transfer Learning for New Wind Turbines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2025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ANN </a:t>
                      </a: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CycleGAN-based domain adaptation + Autoencoder NBM</a:t>
                      </a: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+ SCADA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Requires further validation across manufacturers, turbine systems and different fault types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/>
        </p:nvGraphicFramePr>
        <p:xfrm>
          <a:off x="429260" y="952500"/>
          <a:ext cx="11148060" cy="619569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87015"/>
                <a:gridCol w="2787015"/>
                <a:gridCol w="2787015"/>
                <a:gridCol w="2787015"/>
              </a:tblGrid>
              <a:tr h="6610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PAPER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YEAR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METHOD 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LIMITATION</a:t>
                      </a:r>
                      <a:endParaRPr lang="en-US"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8453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Short-Term Fault Prediction of Wind Turbines Based on Integrated RNN-LSTM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2024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RNN-LSTM + SCADA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Deep-learning approach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8446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 SCADA-Data-Driven Condition Monitoring Method of Wind Turbine Generators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2022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SAE + LightGBM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Condition monitoring / fault classification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88690"/>
            <a:ext cx="10969200" cy="705600"/>
          </a:xfrm>
        </p:spPr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GAP ANALYSIS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591820" y="1094105"/>
          <a:ext cx="11216640" cy="522097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738880"/>
                <a:gridCol w="3738880"/>
                <a:gridCol w="3738880"/>
              </a:tblGrid>
              <a:tr h="5556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EXISTING WORK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RESEARCH GAP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PROPOSED APPROACH</a:t>
                      </a:r>
                      <a:endParaRPr 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8140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SCADA-based monitoring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Often focuses on anomaly/current condition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Define a pre-fault prediction window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68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Temperature prediction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Predicts expected component temperature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Predict failure risk using documented failure timestamps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79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Generic SCADA datasets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May not contain failure timestamps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Use EDP/CARE data with failure information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677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Healthy/Fault classification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Does not show how early the prediction occurred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Measure average lead time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68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Standard accuracy metrics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Accuracy can be misleading for rare failures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Use Precision, Recall, F1, ROC-AUC + lead time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677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Single anomaly detector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May produce false alarms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Compare supervised prediction with anomaly-detection signal</a:t>
                      </a:r>
                      <a:endParaRPr lang="en-US" altLang="en-US"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754380" y="418465"/>
            <a:ext cx="4352290" cy="593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sz="2800">
                <a:latin typeface="Times New Roman" panose="02020603050405020304" charset="0"/>
                <a:cs typeface="Times New Roman" panose="02020603050405020304" charset="0"/>
              </a:rPr>
              <a:t>ARCHITECTURE</a:t>
            </a:r>
            <a:endParaRPr lang="en-I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t="14921"/>
          <a:stretch>
            <a:fillRect/>
          </a:stretch>
        </p:blipFill>
        <p:spPr>
          <a:xfrm>
            <a:off x="850900" y="1401445"/>
            <a:ext cx="10536555" cy="44824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45840"/>
            <a:ext cx="10969200" cy="705600"/>
          </a:xfrm>
        </p:spPr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MODULE DESCRIPTION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815"/>
            <a:ext cx="10968990" cy="55448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 1 — SCADA Data Collection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Obtain historical wind turbine SCADA data from the Zenodo dataset.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Identify relevant turbine parameters such as wind speed, temperature, power, rotor/generator speed, etc.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Select the required turbine and features for experimentation.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 2 — Data Preprocessing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Handle missing values.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Remove duplicate records.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Detect and handle abnormal/outlier values.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Normalize/standardize numerical features where required.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Prepare the dataset for machine-learning mode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325755" y="130175"/>
            <a:ext cx="11145520" cy="5922010"/>
          </a:xfrm>
        </p:spPr>
        <p:txBody>
          <a:bodyPr>
            <a:noAutofit/>
          </a:bodyPr>
          <a:p>
            <a:pPr marL="0" indent="0">
              <a:buNone/>
            </a:pPr>
            <a:endParaRPr lang="en-US" altLang="en-US" sz="18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 3 — Feature Engineering &amp; Selection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Analyze relationships between turbine parameters and faults.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Select important features.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Remove irrelevant/redundant features.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Prepare the final feature set for model training.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 4 — Model Development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Divide the dataset into training and testing data.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Train different ML algorithms: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Decision Tree</a:t>
            </a:r>
            <a:r>
              <a:rPr lang="en-IN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  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Random Forest</a:t>
            </a:r>
            <a:r>
              <a:rPr lang="en-IN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                 </a:t>
            </a:r>
            <a:endParaRPr lang="en-IN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XGBoost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330" y="271145"/>
            <a:ext cx="10972800" cy="679005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 5 — Model Testing &amp; Evaluation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 the unseen testing dataset to generate predictions.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Compare predicted labels with actual labels.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Calculate: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Accuracy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Precision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Recall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 6 — Health Prediction &amp; Maintenance Recommendation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selected model predicts the turbine's condition.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Example: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Healthy → Continue monitoring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Warning → Inspect component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Fault/Risk → Schedule maintenance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Module 7 — Monitoring Dashboard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Develop a Streamlit dashboard to display: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Current turbine health status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Fault probability/risk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Sensor parameter trends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Model prediction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Alerts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Maintenance recommendation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Model performance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25240" y="508070"/>
            <a:ext cx="10969200" cy="705600"/>
          </a:xfrm>
        </p:spPr>
        <p:txBody>
          <a:bodyPr/>
          <a:p>
            <a:r>
              <a:rPr lang="en-IN" altLang="en-US" sz="2800" cap="all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2800" cap="all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Software &amp; Hardware Requirements</a:t>
            </a:r>
            <a:endParaRPr lang="en-US" altLang="en-US" sz="2800" cap="all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5365" y="1422215"/>
            <a:ext cx="5342400" cy="381600"/>
          </a:xfrm>
        </p:spPr>
        <p:txBody>
          <a:bodyPr/>
          <a:p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</a:t>
            </a:r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SOFTWARE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5365" y="1941630"/>
            <a:ext cx="5342400" cy="4395600"/>
          </a:xfrm>
        </p:spPr>
        <p:txBody>
          <a:bodyPr>
            <a:noAutofit/>
          </a:bodyPr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Python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Jupyter Notebook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VS Code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Pandas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NumPy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Scikit-learn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XGBoost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Matplotlib / Plotly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Streamlit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235750" y="1422364"/>
            <a:ext cx="5342400" cy="381600"/>
          </a:xfrm>
        </p:spPr>
        <p:txBody>
          <a:bodyPr/>
          <a:p>
            <a:r>
              <a:rPr 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HARDWARE</a:t>
            </a:r>
            <a:endParaRPr 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941630"/>
            <a:ext cx="5342400" cy="4395600"/>
          </a:xfrm>
        </p:spPr>
        <p:txBody>
          <a:bodyPr>
            <a:normAutofit/>
          </a:bodyPr>
          <a:p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Laptop/PC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Minimum 8 GB RAM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Sufficient storage for the selected dataset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Internet connection for dataset acquisition</a:t>
            </a:r>
            <a:endParaRPr lang="en-US" altLang="en-US" sz="16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DATASET DETAILS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The dataset contains: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wind turbines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wind farms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sub-datasets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turbine-years of operating data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anomaly-event datasets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normal-behaviour datasets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608330" y="475615"/>
            <a:ext cx="11129645" cy="5890895"/>
          </a:xfrm>
        </p:spPr>
        <p:txBody>
          <a:bodyPr/>
          <a:p>
            <a:pPr marL="0" indent="0">
              <a:buNone/>
            </a:pPr>
            <a:r>
              <a:rPr lang="en-US" altLang="en-US" sz="2400" cap="all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Data Types</a:t>
            </a:r>
            <a:endParaRPr lang="en-US" altLang="en-US" sz="2000" cap="all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SCADA sensor measurements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Examples</a:t>
            </a:r>
            <a:endParaRPr lang="en-US" altLang="en-US" sz="20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Wind speed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Power-related variables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Temperature-related sensors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Rotor/generator-related measurements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Other turbine operational sensors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Failure Information</a:t>
            </a:r>
            <a:endParaRPr lang="en-US" altLang="en-US" sz="2000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Turbine status information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Anomaly event information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1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Fault-related timestamps</a:t>
            </a:r>
            <a:endParaRPr lang="en-US" altLang="en-US" sz="1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62960"/>
            <a:ext cx="10969200" cy="705600"/>
          </a:xfrm>
        </p:spPr>
        <p:txBody>
          <a:bodyPr/>
          <a:p>
            <a:r>
              <a:rPr lang="en-US" altLang="en-US" sz="2800" cap="all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Algorithms / Technologies</a:t>
            </a:r>
            <a:endParaRPr lang="en-US" altLang="en-US" sz="2800" cap="all">
              <a:solidFill>
                <a:schemeClr val="tx1">
                  <a:lumMod val="85000"/>
                  <a:lumOff val="15000"/>
                </a:schemeClr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968430"/>
            <a:ext cx="10969200" cy="475920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1. Decision Tree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Takes selected SCADA features as input.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Learns decision rules from 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Normal and Pre-Fault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training data.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Uses the learned rules to classify unseen turbine observations.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Serves as a simple baseline model for comparison.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 Random Forest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Takes the same preprocessed SCADA features.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Builds multiple decision trees using different data/feature samples.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Combines the predictions of the trees to classify 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Normal or Pre-Fault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conditions.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Provides a more robust model for comparison.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3. XGBoost</a:t>
            </a:r>
            <a:endParaRPr lang="en-US" altLang="en-US" b="1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Takes the same SCADA features and target labels.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Builds decision trees sequentially, giving more attention to previous prediction errors.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Combines the trees to predict 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Normal or Pre-Fault</a:t>
            </a:r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”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conditions.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Its performance is compared with Decision Tree and Random Forest.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EXPECTED OUTCOME</a:t>
            </a:r>
            <a:endParaRPr lang="en-IN" alt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I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Clean and preprocess wind turbine SCADA data.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Identify important features related to turbine faults.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Develop and compare multiple ML models.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Predict turbine health as Healthy / Warning / Fault Risk.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Generate maintenance recommendations based on prediction.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Develop an interactive Streamlit dashboard for monitoring and visualization.</a:t>
            </a:r>
            <a:endParaRPr lang="en-US" altLang="en-US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WORK COMPLETED</a:t>
            </a:r>
            <a:endParaRPr lang="en-IN" sz="28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23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Completed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Problem Identification 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Literature Survey 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Requirement Analysis 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Technology Selection 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System Architecture 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Database Design 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buNone/>
            </a:pPr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IN" sz="23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 Progress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Dataset Collection 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0"/>
            <a:r>
              <a:rPr lang="en-IN" sz="2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AI Model Implementation</a:t>
            </a:r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IN" sz="2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50" y="608400"/>
            <a:ext cx="10969200" cy="705600"/>
          </a:xfrm>
        </p:spPr>
        <p:txBody>
          <a:bodyPr/>
          <a:lstStyle/>
          <a:p>
            <a:r>
              <a:rPr lang="en-IN"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GANTT CHART</a:t>
            </a:r>
            <a:endParaRPr lang="en-IN" sz="28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097280" y="1423035"/>
          <a:ext cx="10058400" cy="366903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86410"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Activity</a:t>
                      </a:r>
                      <a:endParaRPr lang="en-IN" sz="2000" baseline="0" dirty="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Aug</a:t>
                      </a:r>
                      <a:endParaRPr lang="en-IN" sz="2000" baseline="0" dirty="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Sep</a:t>
                      </a:r>
                      <a:endParaRPr lang="en-IN" sz="2000" baseline="0" dirty="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Oct</a:t>
                      </a:r>
                      <a:endParaRPr lang="en-IN" sz="2000" baseline="0" dirty="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Nov</a:t>
                      </a:r>
                      <a:endParaRPr lang="en-IN" sz="2000" baseline="0" dirty="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861695"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Literature Survey</a:t>
                      </a:r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</a:rPr>
                        <a:t>✓</a:t>
                      </a:r>
                      <a:endParaRPr lang="en-IN" sz="2000" baseline="0" dirty="0">
                        <a:latin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861060"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Dataset Collection</a:t>
                      </a:r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</a:rPr>
                        <a:t>✓</a:t>
                      </a:r>
                      <a:endParaRPr lang="en-IN" sz="2000" baseline="0" dirty="0">
                        <a:latin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</a:rPr>
                        <a:t>✓</a:t>
                      </a:r>
                      <a:endParaRPr lang="en-IN" sz="2000" baseline="0" dirty="0">
                        <a:latin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86410"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Development</a:t>
                      </a:r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</a:rPr>
                        <a:t>✓</a:t>
                      </a:r>
                      <a:endParaRPr lang="en-IN" sz="2000" baseline="0" dirty="0">
                        <a:latin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</a:rPr>
                        <a:t>✓</a:t>
                      </a:r>
                      <a:endParaRPr lang="en-IN" sz="2000" baseline="0" dirty="0">
                        <a:latin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87045"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Testing</a:t>
                      </a:r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</a:rPr>
                        <a:t>✓</a:t>
                      </a:r>
                      <a:endParaRPr lang="en-IN" sz="2000" baseline="0" dirty="0">
                        <a:latin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</a:rPr>
                        <a:t>✓</a:t>
                      </a:r>
                      <a:endParaRPr lang="en-IN" sz="2000" baseline="0" dirty="0">
                        <a:latin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486410"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Documentation</a:t>
                      </a:r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2000" baseline="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aseline="0" dirty="0">
                          <a:latin typeface="Times New Roman" panose="02020603050405020304" charset="0"/>
                        </a:rPr>
                        <a:t>✓</a:t>
                      </a:r>
                      <a:endParaRPr lang="en-IN" sz="2000" baseline="0" dirty="0">
                        <a:latin typeface="Times New Roman" panose="02020603050405020304" charset="0"/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20465"/>
            <a:ext cx="10969200" cy="705600"/>
          </a:xfrm>
        </p:spPr>
        <p:txBody>
          <a:bodyPr/>
          <a:p>
            <a:r>
              <a:rPr lang="en-IN" altLang="en-US" sz="28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REFERENCE</a:t>
            </a:r>
            <a:endParaRPr lang="en-IN" altLang="en-US" sz="28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713105" y="1535430"/>
            <a:ext cx="10968990" cy="5683250"/>
          </a:xfrm>
        </p:spPr>
        <p:txBody>
          <a:bodyPr>
            <a:noAutofit/>
          </a:bodyPr>
          <a:p>
            <a:r>
              <a:rPr lang="en-US" altLang="en-US" sz="1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“A Multi-View Spatio-Temporal Feature Fusion Approach for Wind Turbine Condition Monitoring Based on SCADA Data,” IEEE, 2024.</a:t>
            </a:r>
            <a:endParaRPr lang="en-US" altLang="en-US" sz="1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“SCADA Data-Driven Spatio-Temporal Graph Convolutional Neural Network for Wind Turbine Fault Diagnosis,” IEEE, 2025.</a:t>
            </a:r>
            <a:endParaRPr lang="en-US" altLang="en-US" sz="1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“An Anomaly Detection Approach Based on Machine Learning and SCADA Data for Condition Monitoring of Wind Turbines,” IEEE, 2018.</a:t>
            </a:r>
            <a:endParaRPr lang="en-US" altLang="en-US" sz="1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M. Hussain et al., “Condition Monitoring and Fault Diagnosis of Wind Turbine: A Systematic Literature Review,” IEEE Access, 2024.</a:t>
            </a:r>
            <a:endParaRPr lang="en-US" altLang="en-US" sz="1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7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X. Jin et al., “Condition Monitoring of Wind Turbine Generators Based on SCADA Data and Feature Transfer Learning,” IEEE Access, 2023.</a:t>
            </a:r>
            <a:endParaRPr lang="en-US" altLang="en-US" sz="17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06750"/>
            <a:ext cx="10969200" cy="705600"/>
          </a:xfrm>
        </p:spPr>
        <p:txBody>
          <a:bodyPr/>
          <a:p>
            <a:pPr algn="ctr"/>
            <a:r>
              <a:rPr lang="en-US" sz="3200">
                <a:latin typeface="Times New Roman" panose="02020603050405020304" charset="0"/>
                <a:cs typeface="Times New Roman" panose="02020603050405020304" charset="0"/>
              </a:rPr>
              <a:t>UI DESIGN</a:t>
            </a:r>
            <a:endParaRPr 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190" y="812165"/>
            <a:ext cx="8569960" cy="57137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8618</Words>
  <Application>WPS Presentation</Application>
  <PresentationFormat>Widescreen</PresentationFormat>
  <Paragraphs>392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</vt:lpstr>
      <vt:lpstr>WPS</vt:lpstr>
      <vt:lpstr>AI-Based Predictive Maintenance of Wind Turbines Using Machine Learning</vt:lpstr>
      <vt:lpstr>PROBLEM STATEMENT</vt:lpstr>
      <vt:lpstr>OBJECTIVE</vt:lpstr>
      <vt:lpstr>MOTIVATION</vt:lpstr>
      <vt:lpstr>EXISTING SYSTEM</vt:lpstr>
      <vt:lpstr>PROPOSED SYSTEM</vt:lpstr>
      <vt:lpstr>LITERATURE SURVEY</vt:lpstr>
      <vt:lpstr>PowerPoint 演示文稿</vt:lpstr>
      <vt:lpstr>GAP ANALYSIS</vt:lpstr>
      <vt:lpstr>PowerPoint 演示文稿</vt:lpstr>
      <vt:lpstr>MODULE DESCRIPTION</vt:lpstr>
      <vt:lpstr>PowerPoint 演示文稿</vt:lpstr>
      <vt:lpstr>PowerPoint 演示文稿</vt:lpstr>
      <vt:lpstr>PowerPoint 演示文稿</vt:lpstr>
      <vt:lpstr> Software &amp; Hardware Requirements</vt:lpstr>
      <vt:lpstr>DATASET DETAILS</vt:lpstr>
      <vt:lpstr>PowerPoint 演示文稿</vt:lpstr>
      <vt:lpstr>Algorithms / Technologies</vt:lpstr>
      <vt:lpstr>PowerPoint 演示文稿</vt:lpstr>
      <vt:lpstr>EXPECTED OUTCOME</vt:lpstr>
      <vt:lpstr>WORK COMPLETED</vt:lpstr>
      <vt:lpstr>GANTT CHART</vt:lpstr>
      <vt:lpstr>  REFERENCE</vt:lpstr>
      <vt:lpstr>UI DESIGN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Predictive Maintenance of Wind Turbines Using Machine Learning</dc:title>
  <dc:creator>mohan</dc:creator>
  <cp:lastModifiedBy>Mohan Komeshwari</cp:lastModifiedBy>
  <cp:revision>16</cp:revision>
  <dcterms:created xsi:type="dcterms:W3CDTF">2026-08-11T16:15:00Z</dcterms:created>
  <dcterms:modified xsi:type="dcterms:W3CDTF">2026-09-06T16:46:31Z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74AED210901746069FAB8649EA262FBF_13</vt:lpwstr>
  </property>
</Properties>
</file>